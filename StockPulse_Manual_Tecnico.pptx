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828800" cy="45720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G360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0F4F8"/>
                </a:solidFill>
              </a:defRPr>
            </a:pPr>
            <a:r>
              <a:t>StockPulse CIPSA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94A3B8"/>
                </a:solidFill>
              </a:defRPr>
            </a:pPr>
            <a:r>
              <a:t>Manual Técnico del Sistema de Reportes de Stock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4A3B8"/>
                </a:solidFill>
              </a:defRPr>
            </a:pPr>
            <a:r>
              <a:t>CIPSA · Intelligence Division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4F8"/>
                </a:solidFill>
              </a:defRPr>
            </a:pPr>
            <a:r>
              <a:t>Contenido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00D084"/>
                </a:solidFill>
              </a:defRPr>
            </a:pPr>
            <a:r>
              <a:t>Arquitectura del Sistema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Frontend PWA (Lit Web Components)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Backend API (FastAPI + Render)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Flujo de datos y capas de caché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00D084"/>
                </a:solidFill>
              </a:defRPr>
            </a:pPr>
            <a:r>
              <a:t>Categorias de Negocio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VINIBALL, VINIFAN, REPRESENTADAS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Mapeo por línea de producto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00D084"/>
                </a:solidFill>
              </a:defRPr>
            </a:pPr>
            <a:r>
              <a:t>Estados de Stock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OK, BAJO, AGOTADO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Cálculo por cajas (bx) y unidades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00D084"/>
                </a:solidFill>
              </a:defRPr>
            </a:pPr>
            <a:r>
              <a:t>Funcionalidades Principales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Dashboard y panel de estado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Búsqueda avanzada con Fuse.js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Reportes XLSX exportables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Alertas de stock crítico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00D084"/>
                </a:solidFill>
              </a:defRPr>
            </a:pPr>
            <a:r>
              <a:t>Flujo de Operaciones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Descarga desde appweb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Enriquecimiento con catálogo maestro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Generación de reportes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926080"/>
            <a:ext cx="1828800" cy="73152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0F4F8"/>
                </a:solidFill>
              </a:defRPr>
            </a:pPr>
            <a:r>
              <a:t>Arquitectura del Sistema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4F8"/>
                </a:solidFill>
              </a:defRPr>
            </a:pPr>
            <a:r>
              <a:t>Componentes Principales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00D084"/>
                </a:solidFill>
              </a:defRPr>
            </a:pPr>
            <a:r>
              <a:t>Frontend (GitHub Pages)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g360-stock-reporter-lit (Lit 3 PWA)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Service Worker para offline/respaldo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Cache de 3 capas: memoria → sessionStorage → localStorage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00D084"/>
                </a:solidFill>
              </a:defRPr>
            </a:pPr>
            <a:r>
              <a:t>Backend (Render)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g360-stock-api (FastAPI + Python)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Fuente: appweb.cipsa.com.pe:8054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Enriquecimiento con catálogo maestro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TTL de caché: 15 minutos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00D084"/>
                </a:solidFill>
              </a:defRPr>
            </a:pPr>
            <a:r>
              <a:t>Catálogo Maestro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g360-master-data (JSON)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Campos: SKU, descripción, un_bx, peso, líneas, categorías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Auto-carga desde GitHub en cada reinicio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4F8"/>
                </a:solidFill>
              </a:defRPr>
            </a:pPr>
            <a:r>
              <a:t>Diagrama de Flujo de 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62895" cy="4572000"/>
          </a:xfrm>
          <a:prstGeom prst="rect">
            <a:avLst/>
          </a:prstGeom>
          <a:solidFill>
            <a:srgbClr val="1E293B"/>
          </a:solidFill>
          <a:ln w="25400">
            <a:solidFill>
              <a:srgbClr val="00D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94A3B8"/>
                </a:solidFill>
              </a:defRPr>
            </a:pPr>
            <a:r>
              <a:t>[CAPTURA DE PANTALLA]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Captura del diagrama arquitectura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4F8"/>
                </a:solidFill>
              </a:defRPr>
            </a:pPr>
            <a:r>
              <a:t>Fuentes de Datos (appweb)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00D084"/>
                </a:solidFill>
              </a:defRPr>
            </a:pPr>
            <a:r>
              <a:t>Appweb 1 - General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Almacenes: VES, 40, 118, 121, 122, 129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Fuente principal de stock de venta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00D084"/>
                </a:solidFill>
              </a:defRPr>
            </a:pPr>
            <a:r>
              <a:t>Appweb 2 - Sucursales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Almacenes: S1, S2, S3, S5, S6, S9, S11, S14, S17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Datos consolidados de sucursales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00D084"/>
                </a:solidFill>
              </a:defRPr>
            </a:pPr>
            <a:r>
              <a:t>Tipo de Almacén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venta: VES, 40, 121 (inspección), 122, 129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mktd: 118, S* (sucursales)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Solo almacenes tipo 'venta' cuentan para el stock comercial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926080"/>
            <a:ext cx="1828800" cy="73152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0F4F8"/>
                </a:solidFill>
              </a:defRPr>
            </a:pPr>
            <a:r>
              <a:t>Categorías de Negocio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4F8"/>
                </a:solidFill>
              </a:defRPr>
            </a:pPr>
            <a:r>
              <a:t>Lineas y Categorías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00D084"/>
                </a:solidFill>
              </a:defRPr>
            </a:pPr>
            <a:r>
              <a:t>Mapeo Automático por Código de Línea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VINIBALL → líneas: 01, MA, 14, AD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VINIFAN → líneas: 02, 09, 11, 72-79, CE, CF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INDUMENTARIA → líneas: 57, 52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REPRESENTADAS → línea: 85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PUBLICIDAD → líneas: 80, 81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00D084"/>
                </a:solidFill>
              </a:defRPr>
            </a:pPr>
            <a:r>
              <a:t>Reglas de Asignación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El código de línea se extrae del reporte appweb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Normalización: '0179 - ACCESORIOS' → '79 - ACCESORIOS'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Código '79' → categoría VINIFAN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SKUs sin línea asignada → 'OTROS'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926080"/>
            <a:ext cx="1828800" cy="73152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0F4F8"/>
                </a:solidFill>
              </a:defRPr>
            </a:pPr>
            <a:r>
              <a:t>Estados de Stock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4F8"/>
                </a:solidFill>
              </a:defRPr>
            </a:pPr>
            <a:r>
              <a:t>Cálculo de Estado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00D084"/>
                </a:solidFill>
              </a:defRPr>
            </a:pPr>
            <a:r>
              <a:t>Fórmula de Cajas (bx)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bx = Math.floor(stock_disponible / un_bx)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stock_disponible = suma de 'disponible' en almacenes tipo 'venta'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un_bx = unidades por caja (del catálogo maestro)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00D084"/>
                </a:solidFill>
              </a:defRPr>
            </a:pPr>
            <a:r>
              <a:t>Estados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OK → bx &gt;= 10 (10 o más cajas completas)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BAJO → 1 &lt;= bx &lt; 10 (1 a 9 cajas)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AGOTADO → bx == 0 (sin cajas completas)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00D084"/>
                </a:solidFill>
              </a:defRPr>
            </a:pPr>
            <a:r>
              <a:t>Casos Especiales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SKUs vendidos por unidad (un_bx &lt;= 1): se muestra en unidades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Stock solo en mktd (ej. 118): aparece como AGOTADO en venta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Inspección (121): opcional incluir/excluir en reportes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4F8"/>
                </a:solidFill>
              </a:defRPr>
            </a:pPr>
            <a:r>
              <a:t>Dashboard Principal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62895" cy="4572000"/>
          </a:xfrm>
          <a:prstGeom prst="rect">
            <a:avLst/>
          </a:prstGeom>
          <a:solidFill>
            <a:srgbClr val="1E293B"/>
          </a:solidFill>
          <a:ln w="25400">
            <a:solidFill>
              <a:srgbClr val="00D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94A3B8"/>
                </a:solidFill>
              </a:defRPr>
            </a:pPr>
            <a:r>
              <a:t>[CAPTURA DE PANTALLA]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Captura del panel de estado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926080"/>
            <a:ext cx="1828800" cy="73152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0F4F8"/>
                </a:solidFill>
              </a:defRPr>
            </a:pPr>
            <a:r>
              <a:t>Búsqueda Avanzada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4F8"/>
                </a:solidFill>
              </a:defRPr>
            </a:pPr>
            <a:r>
              <a:t>Motor de Búsqueda (Fuse.js)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00D084"/>
                </a:solidFill>
              </a:defRPr>
            </a:pPr>
            <a:r>
              <a:t>Campers Indexados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SKU (peso: 2.0) - coincidencia exacta prioritaria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Nombre corto (peso: 1.5) - nombre abreviado del producto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Descripción completa (peso: 1.0)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Keywords (peso: 0.6) - atributos: color, tipo, marca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EAN13 (peso: 0.8) - código de barras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Línea (peso: 0.5) - ej: ACCESORIOS, PELOTAS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Categoría (peso: 0.5) - VINIBALL, VINIFAN, etc.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00D084"/>
                </a:solidFill>
              </a:defRPr>
            </a:pPr>
            <a:r>
              <a:t>Normalización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Ignora ubicación del término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Threshold: 0.3 (tolerancia alta para typo-tolerant)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Mínimo 2 caracteres para iniciar búsqueda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4F8"/>
                </a:solidFill>
              </a:defRPr>
            </a:pPr>
            <a:r>
              <a:t>Búsqueda por Voz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00D084"/>
                </a:solidFill>
              </a:defRPr>
            </a:pPr>
            <a:r>
              <a:t>Características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Web Speech API ( SpeechRecognition )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Idioma: es-PE (Español Perú)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Interim results para feedback en tiempo real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00D084"/>
                </a:solidFill>
              </a:defRPr>
            </a:pPr>
            <a:r>
              <a:t>Normalización de Voz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Convierte números hablados a dígitos: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  'cero uno uno cero uno nueve' → '011019'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Elimina ruido: 'sku', 'codigo', 'busca', artículos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Quita tildes y puntuación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Si todo son dígitos → SKU/EAN directo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Si es texto → búsqueda fuzzy por palabras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00D084"/>
                </a:solidFill>
              </a:defRPr>
            </a:pPr>
            <a:r>
              <a:t>Ejemplos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'buscar tijera vinifan' → busca 'tijera vinifan'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'sku cero uno uno cero uno nueve' → busca '011019'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926080"/>
            <a:ext cx="1828800" cy="73152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0F4F8"/>
                </a:solidFill>
              </a:defRPr>
            </a:pPr>
            <a:r>
              <a:t>Reportes Exportables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4F8"/>
                </a:solidFill>
              </a:defRPr>
            </a:pPr>
            <a:r>
              <a:t>Tipos de Reporte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00D084"/>
                </a:solidFill>
              </a:defRPr>
            </a:pPr>
            <a:r>
              <a:t>Reporte Completo (Pulso)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Hoja Resumen: KPIs, totales por categoría y línea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Hojas por línea: datos detallados agrupados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Hoja Sin Catálogo: SKUs sin estado de línea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Opciones: incluir inspección (121), incluir secundarios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00D084"/>
                </a:solidFill>
              </a:defRPr>
            </a:pPr>
            <a:r>
              <a:t>Reporte de Estado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ConStock: SKUs con bx &gt;= 10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BajoStock: SKUs con 1 &lt;= bx &lt; 10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SinStock: SKUs con bx = 0 (agotados)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SinCatalogo: SKUs fuera del catálogo maestro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00D084"/>
                </a:solidFill>
              </a:defRPr>
            </a:pPr>
            <a:r>
              <a:t>Columnas del Reporte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SKU · Nombre · Línea · Categoría · Cajas · Disponible venta · Estado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4F8"/>
                </a:solidFill>
              </a:defRPr>
            </a:pPr>
            <a:r>
              <a:t>Sistema de Alertas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00D084"/>
                </a:solidFill>
              </a:defRPr>
            </a:pPr>
            <a:r>
              <a:t>Tipos de Alerta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Crítico (rojo): bx = 0, SKU agotado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Advertencia (amarillo): 1 &lt;= bx &lt; 10, stock bajo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00D084"/>
                </a:solidFill>
              </a:defRPr>
            </a:pPr>
            <a:r>
              <a:t>Ordenamiento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Primero críticos, luego advertencias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Dentro de cada tipo: ordenado por bx ascendente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Solo SKUs con estado_linea definido (catálogo)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00D084"/>
                </a:solidFill>
              </a:defRPr>
            </a:pPr>
            <a:r>
              <a:t>Notificación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Badge en navegación con contador de alertas críticas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Panel dedicado con filtros: Todos, Sin Stock, Bajo Stock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926080"/>
            <a:ext cx="1828800" cy="73152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0F4F8"/>
                </a:solidFill>
              </a:defRPr>
            </a:pPr>
            <a:r>
              <a:t>Seguridad y Acceso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4F8"/>
                </a:solidFill>
              </a:defRPr>
            </a:pPr>
            <a:r>
              <a:t>Autenticación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00D084"/>
                </a:solidFill>
              </a:defRPr>
            </a:pPr>
            <a:r>
              <a:t>Claves de Acceso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S1_API_KEY: Administrativa (upload, catalogo, resumen)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S1_READ_API_KEY: Lectura para frontend estático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00D084"/>
                </a:solidFill>
              </a:defRPr>
            </a:pPr>
            <a:r>
              <a:t>Endpoints Protegidos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GET /api/v1/stock → requiere S1_READ_API_KEY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GET /api/v1/health → requiere S1_READ_API_KEY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POST /api/v1/catalog/upload → requiere S1_API_KEY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GET /api/v1/resumen → requiere S1_API_KEY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00D084"/>
                </a:solidFill>
              </a:defRPr>
            </a:pPr>
            <a:r>
              <a:t>CORS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Permitido: https://carloscus.github.io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Desarrollo: http://localhost:3000, :5173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Rate limit: 60 requests/minute por IP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926080"/>
            <a:ext cx="1828800" cy="73152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0F4F8"/>
                </a:solidFill>
              </a:defRPr>
            </a:pPr>
            <a:r>
              <a:t>Despliegue y Operación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4F8"/>
                </a:solidFill>
              </a:defRPr>
            </a:pPr>
            <a:r>
              <a:t>Infraestructura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00D084"/>
                </a:solidFill>
              </a:defRPr>
            </a:pPr>
            <a:r>
              <a:t>Frontend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GitHub Pages (deploy automático desde main)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Build: Vite + Lit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URL: https://carloscus.github.io/g360-stock-reporter/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00D084"/>
                </a:solidFill>
              </a:defRPr>
            </a:pPr>
            <a:r>
              <a:t>Backend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Render (servicio gratuito)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URL: https://g360-stock-api.onrender.com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Variables de entorno: S1_API_KEY, S1_READ_API_KEY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Auto-restart si falla (keep-alive cada 15 min)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00D084"/>
                </a:solidFill>
              </a:defRPr>
            </a:pPr>
            <a:r>
              <a:t>Ventana Operativa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Lunes a Sábado, 07:00 - 22:59 (hora Lima)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Domingo y madrugada: no se regenera reporte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Cache sirve datos del último ciclo válido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4F8"/>
                </a:solidFill>
              </a:defRPr>
            </a:pPr>
            <a:r>
              <a:t>Instalación y Desarrollo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00D084"/>
                </a:solidFill>
              </a:defRPr>
            </a:pPr>
            <a:r>
              <a:t>Frontend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npm install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npm run dev (puerto 3000)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npm run build (genera dist/)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00D084"/>
                </a:solidFill>
              </a:defRPr>
            </a:pPr>
            <a:r>
              <a:t>Backend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cd g360-stock-api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pip install -r requirements.txt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uvicorn app.main:app --reload --port 8000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00D084"/>
                </a:solidFill>
              </a:defRPr>
            </a:pPr>
            <a:r>
              <a:t>Variables de Entorno (.env)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S1_SOURCE1_URL, S1_SOURCE2_URL (appweb)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S1_CACHE_TTL_SEGUNDOS (default: 900)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S1_API_KEY, S1_READ_API_KEY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S1_CORS_ORIGINS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926080"/>
            <a:ext cx="1828800" cy="73152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0F4F8"/>
                </a:solidFill>
              </a:defRPr>
            </a:pPr>
            <a:r>
              <a:t>Troubleshooting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4F8"/>
                </a:solidFill>
              </a:defRPr>
            </a:pPr>
            <a:r>
              <a:t>Problemas Comunes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 b="1">
                <a:solidFill>
                  <a:srgbClr val="00D084"/>
                </a:solidFill>
              </a:defRPr>
            </a:pPr>
            <a:r>
              <a:t>Cache Stale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Problema: datos viejos, no se actualizan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Solución: Forzar refresh en UI o limpiar localStorage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00D084"/>
                </a:solidFill>
              </a:defRPr>
            </a:pPr>
            <a:r>
              <a:t>SKUs Sin Categoría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Problema: categoria muestra 'OTROS'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Causa: línea no mapeada en CATEGORIAS dict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Solución: Agregar código de línea al mapeo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00D084"/>
                </a:solidFill>
              </a:defRPr>
            </a:pPr>
            <a:r>
              <a:t>Stock 0 Incorrecto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Problema: SKU con stock en 118 muestra 0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Causa: 118 es tipo mktd, no cuenta para venta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Solución: Verificar si el SKU tiene almacenes de venta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</a:p>
          <a:p>
            <a:pPr>
              <a:spcBef>
                <a:spcPts val="2000"/>
              </a:spcBef>
              <a:defRPr sz="2400" b="1">
                <a:solidFill>
                  <a:srgbClr val="00D084"/>
                </a:solidFill>
              </a:defRPr>
            </a:pPr>
            <a:r>
              <a:t>API No Responde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Verificar que S1_API_KEY esté configurada en Render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Check logs de Render si el servicio está awake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4F8"/>
                </a:solidFill>
              </a:defRPr>
            </a:pPr>
            <a:r>
              <a:t>Mejoras Futuras Planeadas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Integración con ERP para rotación de SKUs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Alertas push/notificaciones en tiempo real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Reportes por almacén específico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Gráficos de tendencia histórica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Módulo de reposición automática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App nativa móvil (React Native/Flutter)</a:t>
            </a:r>
          </a:p>
          <a:p>
            <a:pPr>
              <a:spcBef>
                <a:spcPts val="800"/>
              </a:spcBef>
              <a:defRPr sz="1800">
                <a:solidFill>
                  <a:srgbClr val="F0F4F8"/>
                </a:solidFill>
              </a:defRPr>
            </a:pPr>
            <a:r>
              <a:t>Dashboard ejecutivo con KPIs avanzados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0F4F8"/>
                </a:solidFill>
              </a:defRPr>
            </a:pPr>
            <a:r>
              <a:t>StockPulse CIPSA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4A3B8"/>
                </a:solidFill>
              </a:defRPr>
            </a:pPr>
            <a:r>
              <a:t>Inteligencia de Stock en Tiempo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D084"/>
                </a:solidFill>
              </a:defRPr>
            </a:pPr>
            <a:r>
              <a:t>¿Consultas? Contactar al equipo G360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